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91" r:id="rId7"/>
    <p:sldId id="411" r:id="rId8"/>
    <p:sldId id="414" r:id="rId9"/>
    <p:sldId id="415" r:id="rId10"/>
    <p:sldId id="412" r:id="rId11"/>
    <p:sldId id="416" r:id="rId12"/>
    <p:sldId id="3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03" d="100"/>
          <a:sy n="103" d="100"/>
        </p:scale>
        <p:origin x="82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png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1150" y="411479"/>
            <a:ext cx="7675154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21150" y="370331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Kfupm Logos">
            <a:extLst>
              <a:ext uri="{FF2B5EF4-FFF2-40B4-BE49-F238E27FC236}">
                <a16:creationId xmlns:a16="http://schemas.microsoft.com/office/drawing/2014/main" id="{9A9CAF71-3A0D-A16B-C1E6-9006258BA2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1145876" y="164871"/>
            <a:ext cx="2489200" cy="2533650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Kfupm Logos">
            <a:extLst>
              <a:ext uri="{FF2B5EF4-FFF2-40B4-BE49-F238E27FC236}">
                <a16:creationId xmlns:a16="http://schemas.microsoft.com/office/drawing/2014/main" id="{51619552-9CE9-26B8-4CAD-A8E4D0E6CF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373954" y="0"/>
            <a:ext cx="1157092" cy="1177754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pic>
        <p:nvPicPr>
          <p:cNvPr id="3" name="Picture 2" descr="Kfupm Logos">
            <a:extLst>
              <a:ext uri="{FF2B5EF4-FFF2-40B4-BE49-F238E27FC236}">
                <a16:creationId xmlns:a16="http://schemas.microsoft.com/office/drawing/2014/main" id="{94B5736C-25B5-E3E0-870B-6DD883536F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373954" y="0"/>
            <a:ext cx="1157092" cy="1177754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 descr="Kfupm Logos">
            <a:extLst>
              <a:ext uri="{FF2B5EF4-FFF2-40B4-BE49-F238E27FC236}">
                <a16:creationId xmlns:a16="http://schemas.microsoft.com/office/drawing/2014/main" id="{E4CD01CE-5E04-B0CE-1BF1-32A4349B5A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1145876" y="164871"/>
            <a:ext cx="2489200" cy="2533650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F4E8D0D7-F10C-FD51-A99F-AE6816F9391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 descr="Kfupm Logos">
            <a:extLst>
              <a:ext uri="{FF2B5EF4-FFF2-40B4-BE49-F238E27FC236}">
                <a16:creationId xmlns:a16="http://schemas.microsoft.com/office/drawing/2014/main" id="{17BDA98F-3F14-C021-1AC2-0EE22DE88A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373954" y="0"/>
            <a:ext cx="1157092" cy="1177754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pic>
        <p:nvPicPr>
          <p:cNvPr id="3" name="Picture 2" descr="Kfupm Logos">
            <a:extLst>
              <a:ext uri="{FF2B5EF4-FFF2-40B4-BE49-F238E27FC236}">
                <a16:creationId xmlns:a16="http://schemas.microsoft.com/office/drawing/2014/main" id="{087DC6C6-4024-2BE9-4920-9D1B443232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9023438" y="577933"/>
            <a:ext cx="1157092" cy="1177754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pic>
        <p:nvPicPr>
          <p:cNvPr id="2" name="Picture 1" descr="Kfupm Logos">
            <a:extLst>
              <a:ext uri="{FF2B5EF4-FFF2-40B4-BE49-F238E27FC236}">
                <a16:creationId xmlns:a16="http://schemas.microsoft.com/office/drawing/2014/main" id="{A0B3A878-7457-C63C-F6E6-A48DDFAAE0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373954" y="0"/>
            <a:ext cx="1157092" cy="1177754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pic>
        <p:nvPicPr>
          <p:cNvPr id="2" name="Picture 1" descr="Kfupm Logos">
            <a:extLst>
              <a:ext uri="{FF2B5EF4-FFF2-40B4-BE49-F238E27FC236}">
                <a16:creationId xmlns:a16="http://schemas.microsoft.com/office/drawing/2014/main" id="{D52B9F92-A578-DA05-B418-6F641DB19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2309632" y="5278291"/>
            <a:ext cx="1157092" cy="1177754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pic>
        <p:nvPicPr>
          <p:cNvPr id="2" name="Picture 1" descr="Kfupm Logos">
            <a:extLst>
              <a:ext uri="{FF2B5EF4-FFF2-40B4-BE49-F238E27FC236}">
                <a16:creationId xmlns:a16="http://schemas.microsoft.com/office/drawing/2014/main" id="{EE2DC053-09E7-8703-82B5-353CDAA79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373954" y="0"/>
            <a:ext cx="1157092" cy="1177754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 descr="Kfupm Logos">
            <a:extLst>
              <a:ext uri="{FF2B5EF4-FFF2-40B4-BE49-F238E27FC236}">
                <a16:creationId xmlns:a16="http://schemas.microsoft.com/office/drawing/2014/main" id="{B94A35A1-092B-B305-2662-ED65C66322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373954" y="0"/>
            <a:ext cx="1157092" cy="1177754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Kfupm Logos">
            <a:extLst>
              <a:ext uri="{FF2B5EF4-FFF2-40B4-BE49-F238E27FC236}">
                <a16:creationId xmlns:a16="http://schemas.microsoft.com/office/drawing/2014/main" id="{FC154B84-EBD5-D8AA-F567-B7C20A8BF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r="-1" b="-1527"/>
          <a:stretch>
            <a:fillRect/>
          </a:stretch>
        </p:blipFill>
        <p:spPr bwMode="auto">
          <a:xfrm>
            <a:off x="373954" y="0"/>
            <a:ext cx="1157092" cy="1177754"/>
          </a:xfrm>
          <a:prstGeom prst="snip2DiagRect">
            <a:avLst>
              <a:gd name="adj1" fmla="val 33365"/>
              <a:gd name="adj2" fmla="val 3376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MSIPCMContentMarking" descr="{&quot;HashCode&quot;:374511375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5F4A397A-E31E-7098-A914-811048FB3D15}"/>
              </a:ext>
            </a:extLst>
          </p:cNvPr>
          <p:cNvSpPr txBox="1"/>
          <p:nvPr userDrawn="1"/>
        </p:nvSpPr>
        <p:spPr>
          <a:xfrm>
            <a:off x="0" y="0"/>
            <a:ext cx="2441490" cy="2343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A7A8AA"/>
                </a:solidFill>
                <a:latin typeface="SABIC Typeface Headline Light" panose="020B0303060202020204" pitchFamily="34" charset="0"/>
              </a:rPr>
              <a:t>Classification: General Business Use </a:t>
            </a: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8209" y="624264"/>
            <a:ext cx="8179558" cy="3033336"/>
          </a:xfrm>
        </p:spPr>
        <p:txBody>
          <a:bodyPr/>
          <a:lstStyle/>
          <a:p>
            <a:r>
              <a:rPr lang="en-US" sz="4000" i="1" dirty="0"/>
              <a:t>A Practical Hybrid Diffusion--GAN Approach to Image Super-Resolution on CPU</a:t>
            </a:r>
            <a:endParaRPr lang="en-US" sz="4000" dirty="0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9C131397-3F32-6CA5-A2D4-28EB10547B5D}"/>
              </a:ext>
            </a:extLst>
          </p:cNvPr>
          <p:cNvSpPr txBox="1">
            <a:spLocks/>
          </p:cNvSpPr>
          <p:nvPr/>
        </p:nvSpPr>
        <p:spPr>
          <a:xfrm>
            <a:off x="4625046" y="4479985"/>
            <a:ext cx="6922698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By:  Saad Almolled 	G202415440</a:t>
            </a:r>
          </a:p>
          <a:p>
            <a:endParaRPr lang="en-US" sz="1600" b="1" dirty="0"/>
          </a:p>
          <a:p>
            <a:r>
              <a:rPr lang="en-US" sz="1600" b="1" dirty="0"/>
              <a:t>Supervisor: Dr. Muzammil Behzad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METHOD OF STATEMENT</a:t>
            </a:r>
          </a:p>
          <a:p>
            <a:r>
              <a:rPr lang="en-US" dirty="0"/>
              <a:t>RESULTS AND DISCUSSION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1" name="Rectangle 8">
            <a:extLst>
              <a:ext uri="{FF2B5EF4-FFF2-40B4-BE49-F238E27FC236}">
                <a16:creationId xmlns:a16="http://schemas.microsoft.com/office/drawing/2014/main" id="{D25B9E12-3870-C61E-E77D-A3EA2436B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314" y="2331737"/>
            <a:ext cx="886983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Super resolution (SR) aims to create high-resolution images from low-resolution inputs while keeping important details, but recovering meaningful texture and sharpness becomes difficult when the LR image lacks structural information.</a:t>
            </a: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GAN-based models such as ESRGAN and Real-ESRGAN improve visual quality by learning realistic textures and producing clearer, more appealing results.</a:t>
            </a: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Traditional interpolation in GAN is fast but fails to recover authentic details, while diffusion-based SR generates realistic outputs through multiple denoising steps that help reduce artifacts.</a:t>
            </a: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Diffusion models offer stable reconstruction, but their sequential denoising process increases computational cost compared to simpler SR methods</a:t>
            </a: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 logical solution to bridge the gap between them is to explore hybrid model combining their advantages</a:t>
            </a: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A126-8473-B92C-4928-5A82594A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A377B-BF2A-7315-8EC7-1B4D1637CD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1038082" cy="359747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Diffusion-GAN Hybrid approach has been explored in previous studies as a possible way to bridge the gap between both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proposed hybrid models achieves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major advancements but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need GPU hardware as they use too much computing power to run on CPUs with longer processin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Further optimization is required to run hybrid SR models on lower computational hardware including mobile/local AI hardware and cloud apps.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The benefit of such low demand model will help integrating hybrid SR in automated surveillance records upscaling for face recognition, mobile applications and so 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90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CDA3-8EB2-C781-9F87-E51F0143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30F2-05B4-E3D8-23DE-6087B0D4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927A3-8048-A2F8-66EF-3CA7BD969A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5638489" cy="3597470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Objectives: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research project consists of three fundamental 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development of a lightweight SR architecture which unites core elements from GAN and diffusion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approach of adding edge information for its fundamental structural reference point during its refinement process.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research evaluates our final hybrid design against previous versions and examines their design choices. </a:t>
            </a: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6F1CD4-929B-0D39-A65B-BCBD1013C390}"/>
              </a:ext>
            </a:extLst>
          </p:cNvPr>
          <p:cNvSpPr txBox="1">
            <a:spLocks/>
          </p:cNvSpPr>
          <p:nvPr/>
        </p:nvSpPr>
        <p:spPr>
          <a:xfrm>
            <a:off x="6550089" y="2740479"/>
            <a:ext cx="5461208" cy="3597470"/>
          </a:xfrm>
          <a:prstGeom prst="rect">
            <a:avLst/>
          </a:prstGeom>
        </p:spPr>
        <p:txBody>
          <a:bodyPr vert="horz" lIns="0" tIns="4572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943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Project Scope: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system performs ×4 super-resolution tasks with small refinement network.</a:t>
            </a:r>
          </a:p>
          <a:p>
            <a:pPr marR="0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Basic SR (GAN based) + diffusion refiner + up sampler+ discriminator</a:t>
            </a:r>
            <a:endParaRPr lang="en-US" sz="1400" b="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system operates exclusively on CPUs to see how light weight it is 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focus will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assess the possibility for </a:t>
            </a:r>
            <a:r>
              <a:rPr lang="en-US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real-world field usage instead of performing complete benchmark evaluation.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The model will be revisited based on the its performance.</a:t>
            </a:r>
            <a:endParaRPr lang="en-US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516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CDA3-8EB2-C781-9F87-E51F0143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30F2-05B4-E3D8-23DE-6087B0D4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AND SCOPE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FD6A6-8D6C-5338-4077-770717E4C1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1" y="2676525"/>
            <a:ext cx="3128554" cy="359747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first attempt employed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RRDBNet</a:t>
            </a:r>
            <a:r>
              <a:rPr lang="en-US" sz="12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with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TinyDiffusionRefiner</a:t>
            </a:r>
            <a:r>
              <a:rPr lang="en-US" sz="12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to produce excellent results, yet it did not fulfill the required CPU performance standards.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FastHybridSRModel</a:t>
            </a:r>
            <a:r>
              <a:rPr lang="en-US" sz="12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using basic SR instead of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RRDBNet</a:t>
            </a:r>
            <a:r>
              <a:rPr lang="en-US" sz="12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achieved fast operation, but its perceptual quality remained insufficient.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ImprovedSRModel</a:t>
            </a:r>
            <a:r>
              <a:rPr lang="en-US" sz="12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with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BalancedRefiner</a:t>
            </a:r>
            <a:r>
              <a:rPr lang="en-US" sz="12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achieved a balanced solution which delivered good quality results and acceptable CPU performance.</a:t>
            </a: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FE4CF-79BD-53A3-01DF-E4FA4A91FE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217" y="95114"/>
            <a:ext cx="2703620" cy="61788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18F044A4-87BB-0E35-F36F-16A3FEAE3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8522" y="6323660"/>
            <a:ext cx="2455618" cy="33839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ctr">
              <a:spcBef>
                <a:spcPts val="0"/>
              </a:spcBef>
            </a:pPr>
            <a:r>
              <a:rPr lang="en-US" sz="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structure of the </a:t>
            </a:r>
            <a:r>
              <a:rPr lang="en-US" sz="8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RRDBNet</a:t>
            </a:r>
            <a:r>
              <a:rPr lang="en-US" sz="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from Real-ESRGAN model </a:t>
            </a:r>
          </a:p>
          <a:p>
            <a:pPr marL="0" marR="0" algn="ctr">
              <a:spcBef>
                <a:spcPts val="0"/>
              </a:spcBef>
            </a:pPr>
            <a:r>
              <a:rPr lang="en-US" sz="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(GAN-based)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DED1C36D-2ECB-0E62-56D9-1CFA322716A9}"/>
              </a:ext>
            </a:extLst>
          </p:cNvPr>
          <p:cNvSpPr txBox="1">
            <a:spLocks/>
          </p:cNvSpPr>
          <p:nvPr/>
        </p:nvSpPr>
        <p:spPr>
          <a:xfrm>
            <a:off x="594360" y="2323711"/>
            <a:ext cx="3399142" cy="352814"/>
          </a:xfrm>
          <a:prstGeom prst="rect">
            <a:avLst/>
          </a:prstGeom>
        </p:spPr>
        <p:txBody>
          <a:bodyPr vert="horz" lIns="0" tIns="4572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943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Roadmap of the Methodology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E35A86-512F-3D1F-5EDF-4D1DA35DED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373" y="2078257"/>
            <a:ext cx="2365527" cy="318539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4C8F0020-B843-89FE-A43E-EBA34D806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9097" y="5373288"/>
            <a:ext cx="2548890" cy="3917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Structure of </a:t>
            </a:r>
            <a:r>
              <a:rPr lang="en-US" sz="1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FastHybridSRModel</a:t>
            </a:r>
            <a:endParaRPr lang="en-US" sz="1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4B5024-8100-A4F2-85C6-4854BBC3BF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819" y="700657"/>
            <a:ext cx="1984822" cy="545668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Box 2">
            <a:extLst>
              <a:ext uri="{FF2B5EF4-FFF2-40B4-BE49-F238E27FC236}">
                <a16:creationId xmlns:a16="http://schemas.microsoft.com/office/drawing/2014/main" id="{D5F9C139-D9C1-E79D-54BF-190E646AD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847" y="6410597"/>
            <a:ext cx="2548890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9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Structure of </a:t>
            </a:r>
            <a:r>
              <a:rPr lang="en-US" sz="9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HighQualityHybridModel</a:t>
            </a:r>
            <a:r>
              <a:rPr lang="en-US" sz="9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8BC26B2-55AE-90FB-E121-C422963AF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" y="531321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4">
                <a:extLst>
                  <a:ext uri="{FF2B5EF4-FFF2-40B4-BE49-F238E27FC236}">
                    <a16:creationId xmlns:a16="http://schemas.microsoft.com/office/drawing/2014/main" id="{0DB070E1-13D7-66E8-38B9-A06155C32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005" y="5202559"/>
                <a:ext cx="4019818" cy="12185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0" tIns="25392" rIns="0" bIns="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 Light" panose="020F03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171450" marR="0" lvl="0" indent="-1714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altLang="en-US" sz="12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The refiner optimization process uses:</a:t>
                </a:r>
              </a:p>
              <a:p>
                <a:pPr marL="0" marR="0">
                  <a:lnSpc>
                    <a:spcPct val="107000"/>
                  </a:lnSpc>
                  <a:spcBef>
                    <a:spcPts val="2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ℒ</m:t>
                      </m:r>
                      <m:r>
                        <a:rPr lang="en-US" sz="18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∥</m:t>
                      </m:r>
                      <m:r>
                        <a:rPr lang="en-US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US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𝑦</m:t>
                          </m:r>
                        </m:e>
                      </m:acc>
                      <m:sSub>
                        <m:sSubPr>
                          <m:ctrlPr>
                            <a:rPr lang="en-US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∥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n-US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0</m:t>
                      </m:r>
                      <m:r>
                        <a:rPr lang="en-US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a:rPr lang="en-US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∥</m:t>
                      </m:r>
                      <m:r>
                        <a:rPr lang="en-US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US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𝑦</m:t>
                          </m:r>
                        </m:e>
                      </m:acc>
                      <m:sSubSup>
                        <m:sSubSupPr>
                          <m:ctrlPr>
                            <a:rPr lang="en-US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∥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US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bSup>
                      <m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.</m:t>
                      </m:r>
                    </m:oMath>
                  </m:oMathPara>
                </a14:m>
                <a:endParaRPr lang="en-US" sz="1800" b="1" dirty="0">
                  <a:solidFill>
                    <a:srgbClr val="2F5496"/>
                  </a:solidFill>
                  <a:effectLst/>
                  <a:latin typeface="Calibri Light" panose="020F03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marR="0" lvl="0" indent="-1714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altLang="en-US" sz="12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The optimization process uses </a:t>
                </a:r>
                <a:r>
                  <a:rPr lang="en-US" altLang="en-US" sz="12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AdamW</a:t>
                </a:r>
                <a:r>
                  <a:rPr lang="en-US" altLang="en-US" sz="12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with gradient clipping</a:t>
                </a: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endPara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2F5496"/>
                  </a:solidFill>
                  <a:effectLst/>
                  <a:latin typeface="Calibri Light" panose="020F03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Rectangle 4">
                <a:extLst>
                  <a:ext uri="{FF2B5EF4-FFF2-40B4-BE49-F238E27FC236}">
                    <a16:creationId xmlns:a16="http://schemas.microsoft.com/office/drawing/2014/main" id="{0DB070E1-13D7-66E8-38B9-A06155C32C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005" y="5202559"/>
                <a:ext cx="4019818" cy="1218531"/>
              </a:xfrm>
              <a:prstGeom prst="rect">
                <a:avLst/>
              </a:prstGeom>
              <a:blipFill>
                <a:blip r:embed="rId5"/>
                <a:stretch>
                  <a:fillRect l="-2276" r="-197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5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19C8-3490-DE00-E331-047075D0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DISCUSSION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F49F8E0-D9EA-4228-4253-352BAF9079F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4212246" y="2240661"/>
            <a:ext cx="7889559" cy="397037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514DEE3-71BC-7F0B-AEEC-439F2621C382}"/>
              </a:ext>
            </a:extLst>
          </p:cNvPr>
          <p:cNvSpPr txBox="1">
            <a:spLocks/>
          </p:cNvSpPr>
          <p:nvPr/>
        </p:nvSpPr>
        <p:spPr>
          <a:xfrm>
            <a:off x="575310" y="2965698"/>
            <a:ext cx="3315555" cy="2994415"/>
          </a:xfrm>
          <a:prstGeom prst="rect">
            <a:avLst/>
          </a:prstGeom>
        </p:spPr>
        <p:txBody>
          <a:bodyPr vert="horz" lIns="0" tIns="228600" rIns="0" bIns="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</a:t>
            </a:r>
            <a:r>
              <a:rPr lang="en-US" sz="18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he model benefits from edge conditioning. Generates more detailed structures than the fast prototype. Operates within the expected CPU timing range with no extensive memory usage or crashes.</a:t>
            </a:r>
          </a:p>
          <a:p>
            <a:pPr marL="0" marR="0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The difference in image colors is due to loss in feature capture during down sampling during refinement (more training is required)</a:t>
            </a:r>
          </a:p>
          <a:p>
            <a:pPr marL="0" marR="0"/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302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19C8-3490-DE00-E331-047075D0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247BFC-195D-096A-A45D-977D871EF353}"/>
              </a:ext>
            </a:extLst>
          </p:cNvPr>
          <p:cNvSpPr txBox="1">
            <a:spLocks/>
          </p:cNvSpPr>
          <p:nvPr/>
        </p:nvSpPr>
        <p:spPr>
          <a:xfrm>
            <a:off x="7484769" y="547687"/>
            <a:ext cx="5063490" cy="235402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738B2-4591-402A-97D2-95618687154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59" y="3279579"/>
            <a:ext cx="10816979" cy="2994415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research developed an efficient hybrid SR system optimized for CPU hardware. The model combines a small SR backbone with an edge-conditioned refiner and latency-aware execution. Future work explores perceptual losses, short multi-step refinement, and embedded platform testing.</a:t>
            </a:r>
          </a:p>
          <a:p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model needs to be trained on more data to capture the coloring deviations. Addition of a denoising step in the refiner will help increasing the feature capturing and edge recognition better.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32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{EB9DB90C-926E-48A3-8E54-CF630A16AC77}TFd3b75063-ff25-434d-b12c-efeaf07d16c36e4d1800_win32-422f0a1741ec</Template>
  <TotalTime>210</TotalTime>
  <Words>641</Words>
  <Application>Microsoft Office PowerPoint</Application>
  <PresentationFormat>Widescreen</PresentationFormat>
  <Paragraphs>61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Franklin Gothic Book</vt:lpstr>
      <vt:lpstr>Franklin Gothic Demi</vt:lpstr>
      <vt:lpstr>SABIC Typeface Headline Light</vt:lpstr>
      <vt:lpstr>Times New Roman</vt:lpstr>
      <vt:lpstr>Custom</vt:lpstr>
      <vt:lpstr>A Practical Hybrid Diffusion--GAN Approach to Image Super-Resolution on CPU</vt:lpstr>
      <vt:lpstr>Agenda</vt:lpstr>
      <vt:lpstr>INTRODUCTION</vt:lpstr>
      <vt:lpstr>PROBLEM STATEMENT</vt:lpstr>
      <vt:lpstr>OBJECTIVES AND SCOPE</vt:lpstr>
      <vt:lpstr>OBJECTIVES AND SCOPE</vt:lpstr>
      <vt:lpstr>RESULTS AND DISCUSSION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Sa3ad Abusaud</dc:creator>
  <cp:lastModifiedBy>Almolled, Saad Moslh</cp:lastModifiedBy>
  <cp:revision>9</cp:revision>
  <dcterms:created xsi:type="dcterms:W3CDTF">2025-08-17T17:37:44Z</dcterms:created>
  <dcterms:modified xsi:type="dcterms:W3CDTF">2025-11-24T13:07:13Z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3321747-f206-4919-9520-29762f698e8e_Enabled">
    <vt:lpwstr>true</vt:lpwstr>
  </property>
  <property fmtid="{D5CDD505-2E9C-101B-9397-08002B2CF9AE}" pid="4" name="MSIP_Label_13321747-f206-4919-9520-29762f698e8e_SetDate">
    <vt:lpwstr>2025-11-24T13:07:13Z</vt:lpwstr>
  </property>
  <property fmtid="{D5CDD505-2E9C-101B-9397-08002B2CF9AE}" pid="5" name="MSIP_Label_13321747-f206-4919-9520-29762f698e8e_Method">
    <vt:lpwstr>Privileged</vt:lpwstr>
  </property>
  <property fmtid="{D5CDD505-2E9C-101B-9397-08002B2CF9AE}" pid="6" name="MSIP_Label_13321747-f206-4919-9520-29762f698e8e_Name">
    <vt:lpwstr>13321747-f206-4919-9520-29762f698e8e</vt:lpwstr>
  </property>
  <property fmtid="{D5CDD505-2E9C-101B-9397-08002B2CF9AE}" pid="7" name="MSIP_Label_13321747-f206-4919-9520-29762f698e8e_SiteId">
    <vt:lpwstr>a77c517c-e95e-435b-bbb4-cb17e462491f</vt:lpwstr>
  </property>
  <property fmtid="{D5CDD505-2E9C-101B-9397-08002B2CF9AE}" pid="8" name="MSIP_Label_13321747-f206-4919-9520-29762f698e8e_ActionId">
    <vt:lpwstr>d620a326-06cb-405f-b1d5-4c27496bf399</vt:lpwstr>
  </property>
  <property fmtid="{D5CDD505-2E9C-101B-9397-08002B2CF9AE}" pid="9" name="MSIP_Label_13321747-f206-4919-9520-29762f698e8e_ContentBits">
    <vt:lpwstr>1</vt:lpwstr>
  </property>
</Properties>
</file>